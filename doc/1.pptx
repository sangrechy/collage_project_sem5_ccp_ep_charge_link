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sldIdLst>
    <p:sldId id="256" r:id="rId2"/>
    <p:sldId id="298" r:id="rId3"/>
    <p:sldId id="299" r:id="rId4"/>
    <p:sldId id="300" r:id="rId5"/>
    <p:sldId id="301" r:id="rId6"/>
    <p:sldId id="302" r:id="rId7"/>
    <p:sldId id="306" r:id="rId8"/>
    <p:sldId id="308" r:id="rId9"/>
    <p:sldId id="304" r:id="rId10"/>
    <p:sldId id="305" r:id="rId11"/>
    <p:sldId id="309" r:id="rId12"/>
    <p:sldId id="30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97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2945E-0C98-4608-9897-B8CCB16FA10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1B8D3E-174C-45A5-963C-6A840E4BE4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191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446EAE-9709-49E3-9D09-DF49288CBEB5}" type="datetime1">
              <a:rPr lang="en-IN" smtClean="0"/>
              <a:t>23-07-2026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CE4F2295-6AEF-4787-F327-B5B3339595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21D313A2-745B-DE31-A14C-6DC7B4B06C71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34649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F508EA8F-B4E2-3C42-A5CC-2F45DACAEA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BAA8F0E-F904-0C29-7E58-1EA8317F934E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76699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4B4BD06-C707-4ECB-B568-73D1461E3867}" type="datetime1">
              <a:rPr lang="en-IN" smtClean="0"/>
              <a:pPr/>
              <a:t>23-07-2026</a:t>
            </a:fld>
            <a:endParaRPr lang="en-IN" b="1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9B24C2D6-F41B-05C4-DCA3-B404E0D4E3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43C5703-7AC8-2BA1-393D-CD09AC701454}"/>
              </a:ext>
            </a:extLst>
          </p:cNvPr>
          <p:cNvSpPr txBox="1">
            <a:spLocks/>
          </p:cNvSpPr>
          <p:nvPr userDrawn="1"/>
        </p:nvSpPr>
        <p:spPr>
          <a:xfrm>
            <a:off x="3195920" y="6342380"/>
            <a:ext cx="6177280" cy="43894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PROJECT-ZEROTH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78446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27FF-BB99-4261-B1FD-3F822A477C71}" type="datetime1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30A23F64-2680-225F-FB9F-D400C31927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002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1C89-564E-4D4B-B799-5EE666708D20}" type="datetime1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2" descr="Startup 20">
            <a:extLst>
              <a:ext uri="{FF2B5EF4-FFF2-40B4-BE49-F238E27FC236}">
                <a16:creationId xmlns:a16="http://schemas.microsoft.com/office/drawing/2014/main" id="{DBD96398-B0AB-F6F6-A8C3-8504654B8A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945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2F782-7CD5-4FC8-B84E-61B3C475D8E0}" type="datetime1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 descr="Startup 20">
            <a:extLst>
              <a:ext uri="{FF2B5EF4-FFF2-40B4-BE49-F238E27FC236}">
                <a16:creationId xmlns:a16="http://schemas.microsoft.com/office/drawing/2014/main" id="{96D74072-F32F-6E6F-2F24-CABF556F60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8F2886BC-5857-A5E2-083E-FBF0705B55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2889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116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92139-4228-4E1E-AE34-D1AC707B480F}" type="datetime1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2" descr="Startup 20">
            <a:extLst>
              <a:ext uri="{FF2B5EF4-FFF2-40B4-BE49-F238E27FC236}">
                <a16:creationId xmlns:a16="http://schemas.microsoft.com/office/drawing/2014/main" id="{303214BA-6D8A-0649-717D-0809813905E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6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37A5C-3DAF-4449-AA2B-8CCFC542C1C4}" type="datetime1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8528EC7E-42E1-E14A-977A-7187EE77BF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060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D77D4-720D-4278-A961-3910D5FF5A20}" type="datetime1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2" descr="Startup 20">
            <a:extLst>
              <a:ext uri="{FF2B5EF4-FFF2-40B4-BE49-F238E27FC236}">
                <a16:creationId xmlns:a16="http://schemas.microsoft.com/office/drawing/2014/main" id="{231E13D4-D8BF-FF2C-E90B-3AA52F08E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366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BA1C-C95D-4B1D-9753-55BC791973F6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9ABC2DC-8FE1-32D1-AB55-46D5EB11C5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186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021CF-FD19-4CFD-9A6E-81D4C4756A2F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2" descr="Startup 20">
            <a:extLst>
              <a:ext uri="{FF2B5EF4-FFF2-40B4-BE49-F238E27FC236}">
                <a16:creationId xmlns:a16="http://schemas.microsoft.com/office/drawing/2014/main" id="{775BEE5D-F035-7E6F-5722-CC1C455EDEC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800" y="136525"/>
            <a:ext cx="1981200" cy="145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8737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2A2292-8BE8-41D2-A32D-BB37E572F7D6}" type="datetime1">
              <a:rPr lang="en-IN" smtClean="0"/>
              <a:pPr/>
              <a:t>23-07-2026</a:t>
            </a:fld>
            <a:endParaRPr lang="en-IN" b="1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FB8137-F6AA-4E86-959E-1B3561B3F039}" type="slidenum">
              <a:rPr lang="en-IN" smtClean="0"/>
              <a:pPr/>
              <a:t>‹#›</a:t>
            </a:fld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601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1822" y="2130037"/>
            <a:ext cx="9144000" cy="3305836"/>
          </a:xfrm>
        </p:spPr>
        <p:txBody>
          <a:bodyPr>
            <a:normAutofit/>
          </a:bodyPr>
          <a:lstStyle/>
          <a:p>
            <a:r>
              <a:rPr lang="en-US" sz="2800" dirty="0"/>
              <a:t>Department of Computer Science and Engineering</a:t>
            </a:r>
          </a:p>
          <a:p>
            <a:r>
              <a:rPr lang="en-US" sz="2800" dirty="0">
                <a:solidFill>
                  <a:srgbClr val="FF0000"/>
                </a:solidFill>
              </a:rPr>
              <a:t>EMBEDDED PROGRAMMING  </a:t>
            </a:r>
          </a:p>
          <a:p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26F17E-A98B-B6DC-057C-8546ECF7AE0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379" y="159347"/>
            <a:ext cx="8991600" cy="18505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49C6C6-75B3-A59D-487F-F67AC5CE7967}"/>
              </a:ext>
            </a:extLst>
          </p:cNvPr>
          <p:cNvSpPr txBox="1"/>
          <p:nvPr/>
        </p:nvSpPr>
        <p:spPr>
          <a:xfrm>
            <a:off x="4498260" y="3150657"/>
            <a:ext cx="6578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 LINK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FE3F3CE-0A38-5B04-A5E0-FC8516908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9571" y="4415141"/>
            <a:ext cx="443706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0A147CFF-E830-BA67-DABF-02B8AF3A1693}"/>
              </a:ext>
            </a:extLst>
          </p:cNvPr>
          <p:cNvSpPr txBox="1">
            <a:spLocks/>
          </p:cNvSpPr>
          <p:nvPr/>
        </p:nvSpPr>
        <p:spPr>
          <a:xfrm>
            <a:off x="665974" y="4415141"/>
            <a:ext cx="4562669" cy="238759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 T Mithun</a:t>
            </a:r>
          </a:p>
          <a:p>
            <a:pPr algn="just">
              <a:spcBef>
                <a:spcPts val="575"/>
              </a:spcBef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0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Nanthiswaran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P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spcBef>
                <a:spcPct val="20000"/>
              </a:spcBef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A5A759D-20CB-A393-6404-94BCF251B740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199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EDFB-9D67-1544-8DCF-2EA05B7BE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7783" y="0"/>
            <a:ext cx="10515600" cy="1009651"/>
          </a:xfrm>
        </p:spPr>
        <p:txBody>
          <a:bodyPr/>
          <a:lstStyle/>
          <a:p>
            <a:r>
              <a:rPr lang="en-IN" dirty="0"/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9BDFD-C889-2BA2-AF99-5AE9671A1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8136"/>
            <a:ext cx="10515600" cy="4951278"/>
          </a:xfrm>
        </p:spPr>
        <p:txBody>
          <a:bodyPr/>
          <a:lstStyle/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Proposed work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 </a:t>
            </a:r>
          </a:p>
          <a:p>
            <a:pPr marL="571500" indent="-571500">
              <a:buAutoNum type="romanU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Design</a:t>
            </a:r>
          </a:p>
          <a:p>
            <a:pPr marL="571500" indent="-571500">
              <a:buFont typeface="Arial" panose="020B0604020202020204" pitchFamily="34" charset="0"/>
              <a:buAutoNum type="romanUcPeriod"/>
            </a:pPr>
            <a:r>
              <a:rPr lang="ta-IN" b="1" dirty="0" err="1">
                <a:latin typeface="Times New Roman" panose="02020603050405020304" pitchFamily="18" charset="0"/>
              </a:rPr>
              <a:t>Future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Scope</a:t>
            </a:r>
            <a:endParaRPr lang="ta-IN" b="1" dirty="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00C09-79CD-D5FF-4B1E-B6109C06D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325EE-5BC8-4C2B-A4D7-1023B1CB6184}" type="datetime1">
              <a:rPr lang="en-IN" sz="1600" b="1" smtClean="0"/>
              <a:t>23-07-2026</a:t>
            </a:fld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88C0C3-315E-F140-5B03-3CA67C3F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z="1800" b="1" smtClean="0"/>
              <a:t>2</a:t>
            </a:fld>
            <a:endParaRPr lang="en-IN" sz="1800" b="1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7BAA957A-E19C-AA6B-9846-F061F9A297F5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91402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A21A-54F0-4716-29D9-ECF7E9AFA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BC16-1F6B-7190-668A-D7B311670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smartphones support multiple fast-charging technologies such as USB-PD, PPS, QC, VOOC, Warp Charge,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HyperCharge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other proprietary protocols.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chargers may provide high output power, phones from different manufacturers often cannot utilize the maximum supported charging capability because each ecosystem follows different communication methods and charging policies.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Smart Bypass Charger is an inline smart device placed between the charger and the phone. It aims to improve charging compatibility where technically feasible, while also providing real-time charging analysis, monitoring, and data logging.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6DD0B-5AED-6801-2D16-ECDF8112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EF410-956F-797B-C0DC-A65953A2E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3</a:t>
            </a:fld>
            <a:endParaRPr lang="en-IN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6952DDB1-C3F4-FB54-7BB7-014D8BD6810B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4384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552A-DD7E-C870-2848-05C452A8B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7B22B-6F5D-B030-3C63-4F787F896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smartphones support high-speed charging using various fast-charging technologies. However, each smartphone manufacturer often implements its own charging communication protocol. As a result, even if a charger and a phone both support the same power rating, they may not negotiate the highest charging mode when used across different brands.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4406D-30F6-E67B-43F9-DB22E880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24C85-3C17-DC37-61A2-ECEFC845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4</a:t>
            </a:fld>
            <a:endParaRPr lang="en-IN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82C1DAE-D762-CBC6-649C-F68D6FC4ECD2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0359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05E14-EA18-75E4-82E3-E9F711D0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411AE-698A-DA77-2583-697C35776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The Charge Link is a portable inline device that is connected between a charger and a smartphone. It is designed to monitor charging communication, </a:t>
            </a:r>
            <a:r>
              <a:rPr lang="en-IN" sz="2400" dirty="0" err="1"/>
              <a:t>analyze</a:t>
            </a:r>
            <a:r>
              <a:rPr lang="en-IN" sz="2400" dirty="0"/>
              <a:t> charging parameters, and explore compatibility optimization between different fast-charging protocols.</a:t>
            </a:r>
          </a:p>
          <a:p>
            <a:r>
              <a:rPr lang="en-IN" sz="2400" dirty="0"/>
              <a:t>The system identifies the connected charger and smartphone, records charging </a:t>
            </a:r>
            <a:r>
              <a:rPr lang="en-IN" sz="2400" dirty="0" err="1"/>
              <a:t>behavior</a:t>
            </a:r>
            <a:r>
              <a:rPr lang="en-IN" sz="2400" dirty="0"/>
              <a:t>, and measures real-time voltage, current, power. It also provides charging analytics, battery wear estimation, and maintains charging profiles for future compatibility improvements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C5164-9C7D-856D-0012-ACDBF3D98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D02D70-72E1-C1D5-E61F-5BC43FE3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5</a:t>
            </a:fld>
            <a:endParaRPr lang="en-IN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490B41E7-3EAB-4E9F-88BF-6D75E8D577EB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24268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23DE-006A-6D21-7A1B-81100D67F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Proposed work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42FBF-3C19-FADB-A0F2-4D2D31489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480"/>
            <a:ext cx="10515600" cy="48764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Aim</a:t>
            </a:r>
          </a:p>
          <a:p>
            <a:pPr lvl="1"/>
            <a:r>
              <a:rPr lang="en-IN" sz="2000" dirty="0"/>
              <a:t>Develop a smart inline charging device for charging analysis and compatibility optimization. </a:t>
            </a:r>
          </a:p>
          <a:p>
            <a:pPr lvl="1"/>
            <a:r>
              <a:rPr lang="en-IN" sz="2000" dirty="0"/>
              <a:t>Monitor charging parameters in real time. </a:t>
            </a:r>
          </a:p>
          <a:p>
            <a:pPr lvl="1"/>
            <a:r>
              <a:rPr lang="en-IN" sz="2000" dirty="0"/>
              <a:t>Explore protocol-aware charging optimization. 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Scope</a:t>
            </a:r>
          </a:p>
          <a:p>
            <a:pPr lvl="1"/>
            <a:r>
              <a:rPr lang="en-IN" sz="2000" dirty="0"/>
              <a:t>Charger &amp; phone detection </a:t>
            </a:r>
          </a:p>
          <a:p>
            <a:pPr lvl="1"/>
            <a:r>
              <a:rPr lang="en-IN" sz="2000" dirty="0"/>
              <a:t>Voltage, current, power &amp; temperature monitoring </a:t>
            </a:r>
          </a:p>
          <a:p>
            <a:pPr lvl="1"/>
            <a:r>
              <a:rPr lang="en-IN" sz="2000" dirty="0"/>
              <a:t>Charging communication analysis </a:t>
            </a:r>
          </a:p>
          <a:p>
            <a:pPr lvl="1"/>
            <a:r>
              <a:rPr lang="en-IN" sz="2000" dirty="0"/>
              <a:t>Compatibility optimization </a:t>
            </a:r>
          </a:p>
          <a:p>
            <a:pPr lvl="1"/>
            <a:r>
              <a:rPr lang="en-IN" sz="2000" dirty="0"/>
              <a:t>Battery wear estimation </a:t>
            </a:r>
          </a:p>
          <a:p>
            <a:pPr lvl="1"/>
            <a:r>
              <a:rPr lang="en-IN" sz="2000" dirty="0"/>
              <a:t>Offline operation with future firmware updates </a:t>
            </a:r>
          </a:p>
          <a:p>
            <a:pPr lvl="1"/>
            <a:r>
              <a:rPr lang="en-IN" sz="2000" dirty="0"/>
              <a:t>Expandable platform for app and cloud support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70EA2-B122-4403-A7C4-12DC3296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14FBCF-98C0-5B59-27EC-1F6081985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6</a:t>
            </a:fld>
            <a:endParaRPr lang="en-IN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1D617AE6-620F-9E4C-7DE6-4CB5461639B1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33971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EFCB5-7EE5-89BA-2EDA-FB27AB02B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441E4-8885-7A79-C0B4-E3669879D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5280"/>
            <a:ext cx="10515600" cy="1325563"/>
          </a:xfrm>
        </p:spPr>
        <p:txBody>
          <a:bodyPr/>
          <a:lstStyle/>
          <a:p>
            <a:r>
              <a:rPr lang="ta-IN" b="1" dirty="0" err="1">
                <a:latin typeface="Times New Roman" panose="02020603050405020304" pitchFamily="18" charset="0"/>
              </a:rPr>
              <a:t>Literature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Survey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DF903-E91E-DA40-56CD-C04DBBC6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C9378A-17EE-F453-360E-A730502C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7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33962AB-93E3-F21E-B69B-6BCD4A2816BA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8EAF7625-4C36-2F8D-CED6-0557D2EF6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7546219"/>
              </p:ext>
            </p:extLst>
          </p:nvPr>
        </p:nvGraphicFramePr>
        <p:xfrm>
          <a:off x="838200" y="1620237"/>
          <a:ext cx="10363199" cy="4662296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356001358"/>
                    </a:ext>
                  </a:extLst>
                </a:gridCol>
                <a:gridCol w="1501911">
                  <a:extLst>
                    <a:ext uri="{9D8B030D-6E8A-4147-A177-3AD203B41FA5}">
                      <a16:colId xmlns:a16="http://schemas.microsoft.com/office/drawing/2014/main" val="1235708819"/>
                    </a:ext>
                  </a:extLst>
                </a:gridCol>
                <a:gridCol w="2891182">
                  <a:extLst>
                    <a:ext uri="{9D8B030D-6E8A-4147-A177-3AD203B41FA5}">
                      <a16:colId xmlns:a16="http://schemas.microsoft.com/office/drawing/2014/main" val="1455134758"/>
                    </a:ext>
                  </a:extLst>
                </a:gridCol>
                <a:gridCol w="3379306">
                  <a:extLst>
                    <a:ext uri="{9D8B030D-6E8A-4147-A177-3AD203B41FA5}">
                      <a16:colId xmlns:a16="http://schemas.microsoft.com/office/drawing/2014/main" val="1929140297"/>
                    </a:ext>
                  </a:extLst>
                </a:gridCol>
              </a:tblGrid>
              <a:tr h="362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b="1" dirty="0" err="1"/>
                        <a:t>Paper</a:t>
                      </a:r>
                      <a:endParaRPr lang="ta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b="1"/>
                        <a:t>Author(s)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b="1"/>
                        <a:t>Limitation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b="1"/>
                        <a:t>How Charge Link Overcomes It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818969"/>
                  </a:ext>
                </a:extLst>
              </a:tr>
              <a:tr h="828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b="1"/>
                        <a:t>USB Type-C Power Delivery for Portable Devices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i="1"/>
                        <a:t>USB Implementers Forum (USB-IF), IEEE referenced standard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/>
                        <a:t>Focuses on USB-PD negotiation only; does not analyze charging behavior or battery health.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/>
                        <a:t>Charge Link adds real-time monitoring, charging analytics, battery wear estimation, and charging profile management.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800922"/>
                  </a:ext>
                </a:extLst>
              </a:tr>
              <a:tr h="828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b="1"/>
                        <a:t>A Smart Battery Management System for Lithium-Ion Batteries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i="1"/>
                        <a:t>M. Chen, G. A. Rincón-Mora (IEEE)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/>
                        <a:t>Focuses on battery protection and State-of-Charge estimation; does not address charger–phone compatibility.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/>
                        <a:t>Charge Link combines battery analysis with charger compatibility optimization and charging communication analysis.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521146"/>
                  </a:ext>
                </a:extLst>
              </a:tr>
              <a:tr h="828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b="1"/>
                        <a:t>Design of a USB Type-C Power Delivery Controller for Fast Charging Applications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i="1"/>
                        <a:t>H. Kim et al. (IEEE)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/>
                        <a:t>Limited to implementing USB-PD controller hardware without user analytics or data logging.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/>
                        <a:t>Charge Link integrates ESP32-based monitoring, OLED display, data logging, and future firmware-based profile updates.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785886"/>
                  </a:ext>
                </a:extLst>
              </a:tr>
              <a:tr h="984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b="1"/>
                        <a:t>An IoT-Based Battery Monitoring System for Portable Devices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i="1"/>
                        <a:t>S. Kumar et al. (IEEE)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/>
                        <a:t>Monitors battery parameters remotely but lacks charging protocol analysis and optimization.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/>
                        <a:t>Charge Link performs inline charging analysis, protocol-aware monitoring, and compatibility optimization while charging.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497391"/>
                  </a:ext>
                </a:extLst>
              </a:tr>
              <a:tr h="828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b="1"/>
                        <a:t>Battery Health Estimation Using Charging Profile Analysis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i="1"/>
                        <a:t>J. Zhang et al. (IEEE)</a:t>
                      </a:r>
                      <a:endParaRPr lang="ta-IN" sz="12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/>
                        <a:t>Estimates battery health but does not optimize charging communication or support cross-device compatibility.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200" dirty="0" err="1"/>
                        <a:t>Charge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Link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combines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battery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wear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estimation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with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charging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communication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analysis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and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compatibility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enhancement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in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one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portable</a:t>
                      </a:r>
                      <a:r>
                        <a:rPr lang="ta-IN" sz="1200" dirty="0"/>
                        <a:t> </a:t>
                      </a:r>
                      <a:r>
                        <a:rPr lang="ta-IN" sz="1200" dirty="0" err="1"/>
                        <a:t>device</a:t>
                      </a:r>
                      <a:r>
                        <a:rPr lang="ta-IN" sz="1200" dirty="0"/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202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8798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C95FD-B35C-EE7A-E3C8-D9EEAAAE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08501-29EF-2BF8-88C8-41E619C33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5280"/>
            <a:ext cx="10515600" cy="1325563"/>
          </a:xfrm>
        </p:spPr>
        <p:txBody>
          <a:bodyPr/>
          <a:lstStyle/>
          <a:p>
            <a:r>
              <a:rPr lang="ta-IN" b="1" dirty="0" err="1">
                <a:latin typeface="Times New Roman" panose="02020603050405020304" pitchFamily="18" charset="0"/>
              </a:rPr>
              <a:t>Literature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Survey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910FB-E851-0785-3EF6-CD4C8F9C6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BB2018-0B0A-85DB-C9B1-4B592123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8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5E7524D-50B2-71D4-8213-3045FD331948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CEDC33E0-C5C3-40C1-EB35-A4E59804C8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20237"/>
          <a:ext cx="10363199" cy="4662296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2356001358"/>
                    </a:ext>
                  </a:extLst>
                </a:gridCol>
                <a:gridCol w="1501911">
                  <a:extLst>
                    <a:ext uri="{9D8B030D-6E8A-4147-A177-3AD203B41FA5}">
                      <a16:colId xmlns:a16="http://schemas.microsoft.com/office/drawing/2014/main" val="1235708819"/>
                    </a:ext>
                  </a:extLst>
                </a:gridCol>
                <a:gridCol w="2891182">
                  <a:extLst>
                    <a:ext uri="{9D8B030D-6E8A-4147-A177-3AD203B41FA5}">
                      <a16:colId xmlns:a16="http://schemas.microsoft.com/office/drawing/2014/main" val="1455134758"/>
                    </a:ext>
                  </a:extLst>
                </a:gridCol>
                <a:gridCol w="3379306">
                  <a:extLst>
                    <a:ext uri="{9D8B030D-6E8A-4147-A177-3AD203B41FA5}">
                      <a16:colId xmlns:a16="http://schemas.microsoft.com/office/drawing/2014/main" val="1929140297"/>
                    </a:ext>
                  </a:extLst>
                </a:gridCol>
              </a:tblGrid>
              <a:tr h="3626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b="1" dirty="0" err="1">
                          <a:latin typeface="+mn-lt"/>
                        </a:rPr>
                        <a:t>Consumer</a:t>
                      </a:r>
                      <a:r>
                        <a:rPr lang="ta-IN" sz="1400" b="1" dirty="0">
                          <a:latin typeface="+mn-lt"/>
                        </a:rPr>
                        <a:t> </a:t>
                      </a:r>
                      <a:r>
                        <a:rPr lang="ta-IN" sz="1400" b="1" dirty="0" err="1">
                          <a:latin typeface="+mn-lt"/>
                        </a:rPr>
                        <a:t>Product</a:t>
                      </a:r>
                      <a:endParaRPr lang="ta-IN" sz="1400" dirty="0">
                        <a:latin typeface="+mn-lt"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b="1">
                          <a:latin typeface="+mn-lt"/>
                        </a:rPr>
                        <a:t>Manufacturer</a:t>
                      </a:r>
                      <a:endParaRPr lang="ta-IN" sz="1400">
                        <a:latin typeface="+mn-lt"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b="1">
                          <a:latin typeface="+mn-lt"/>
                        </a:rPr>
                        <a:t>Limitation</a:t>
                      </a:r>
                      <a:endParaRPr lang="ta-IN" sz="1400">
                        <a:latin typeface="+mn-lt"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b="1">
                          <a:latin typeface="+mn-lt"/>
                        </a:rPr>
                        <a:t>How Charge Link Overcomes It</a:t>
                      </a:r>
                      <a:endParaRPr lang="ta-IN" sz="1400">
                        <a:latin typeface="+mn-lt"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818969"/>
                  </a:ext>
                </a:extLst>
              </a:tr>
              <a:tr h="828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b="1" dirty="0" err="1">
                          <a:latin typeface="+mn-lt"/>
                        </a:rPr>
                        <a:t>ChargerLAB</a:t>
                      </a:r>
                      <a:r>
                        <a:rPr lang="ta-IN" sz="1400" b="1" dirty="0">
                          <a:latin typeface="+mn-lt"/>
                        </a:rPr>
                        <a:t> POWER-Z KM003C</a:t>
                      </a:r>
                      <a:endParaRPr lang="ta-IN" sz="1400" dirty="0">
                        <a:latin typeface="+mn-lt"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ChargerLAB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dirty="0" err="1">
                          <a:latin typeface="+mn-lt"/>
                        </a:rPr>
                        <a:t>Displays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charging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parameters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but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does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not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optimize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charging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or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store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device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profiles</a:t>
                      </a:r>
                      <a:r>
                        <a:rPr lang="ta-IN" sz="1400" dirty="0">
                          <a:latin typeface="+mn-lt"/>
                        </a:rPr>
                        <a:t>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Provides real-time monitoring along with charging profile management and compatibility analysis.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800922"/>
                  </a:ext>
                </a:extLst>
              </a:tr>
              <a:tr h="828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b="1">
                          <a:latin typeface="+mn-lt"/>
                        </a:rPr>
                        <a:t>AVHzY CT-3 USB Tester</a:t>
                      </a:r>
                      <a:endParaRPr lang="ta-IN" sz="1400">
                        <a:latin typeface="+mn-lt"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AVHzY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Measures voltage, current, and power only; cannot analyze charging communication.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Analyzes charging behavior and explores compatibility optimization between chargers and smartphones.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521146"/>
                  </a:ext>
                </a:extLst>
              </a:tr>
              <a:tr h="828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b="1">
                          <a:latin typeface="+mn-lt"/>
                        </a:rPr>
                        <a:t>FNIRSI FNB58 USB Tester</a:t>
                      </a:r>
                      <a:endParaRPr lang="ta-IN" sz="1400">
                        <a:latin typeface="+mn-lt"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FNIRSI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Supports protocol detection but offers limited charging analytics and no intelligent optimization.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Combines protocol analysis, battery wear estimation, charging analytics, and future profile updates.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785886"/>
                  </a:ext>
                </a:extLst>
              </a:tr>
              <a:tr h="984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b="1">
                          <a:latin typeface="+mn-lt"/>
                        </a:rPr>
                        <a:t>Anker Prime Charger</a:t>
                      </a:r>
                      <a:endParaRPr lang="ta-IN" sz="1400">
                        <a:latin typeface="+mn-lt"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Anker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dirty="0" err="1">
                          <a:latin typeface="+mn-lt"/>
                        </a:rPr>
                        <a:t>Delivers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fast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charging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but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relies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on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standard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protocol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negotiation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without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analyzing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device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compatibility</a:t>
                      </a:r>
                      <a:r>
                        <a:rPr lang="ta-IN" sz="1400" dirty="0">
                          <a:latin typeface="+mn-lt"/>
                        </a:rPr>
                        <a:t>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dirty="0" err="1">
                          <a:latin typeface="+mn-lt"/>
                        </a:rPr>
                        <a:t>Acts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as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an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intelligent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inline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device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that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monitors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charging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sessions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and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optimizes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compatibility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where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technically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feasible</a:t>
                      </a:r>
                      <a:r>
                        <a:rPr lang="ta-IN" sz="1400" dirty="0">
                          <a:latin typeface="+mn-lt"/>
                        </a:rPr>
                        <a:t>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8497391"/>
                  </a:ext>
                </a:extLst>
              </a:tr>
              <a:tr h="828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b="1">
                          <a:latin typeface="+mn-lt"/>
                        </a:rPr>
                        <a:t>UGREEN Nexode Charger</a:t>
                      </a:r>
                      <a:endParaRPr lang="ta-IN" sz="1400">
                        <a:latin typeface="+mn-lt"/>
                      </a:endParaRP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UGREEN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>
                          <a:latin typeface="+mn-lt"/>
                        </a:rPr>
                        <a:t>Provides multi-device fast charging but lacks charging analysis, logging, and battery health estimation.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a-IN" sz="1400" dirty="0" err="1">
                          <a:latin typeface="+mn-lt"/>
                        </a:rPr>
                        <a:t>Adds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live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monitoring</a:t>
                      </a:r>
                      <a:r>
                        <a:rPr lang="ta-IN" sz="1400" dirty="0">
                          <a:latin typeface="+mn-lt"/>
                        </a:rPr>
                        <a:t>, </a:t>
                      </a:r>
                      <a:r>
                        <a:rPr lang="ta-IN" sz="1400" dirty="0" err="1">
                          <a:latin typeface="+mn-lt"/>
                        </a:rPr>
                        <a:t>data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logging</a:t>
                      </a:r>
                      <a:r>
                        <a:rPr lang="ta-IN" sz="1400" dirty="0">
                          <a:latin typeface="+mn-lt"/>
                        </a:rPr>
                        <a:t>, </a:t>
                      </a:r>
                      <a:r>
                        <a:rPr lang="ta-IN" sz="1400" dirty="0" err="1">
                          <a:latin typeface="+mn-lt"/>
                        </a:rPr>
                        <a:t>charging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analytics</a:t>
                      </a:r>
                      <a:r>
                        <a:rPr lang="ta-IN" sz="1400" dirty="0">
                          <a:latin typeface="+mn-lt"/>
                        </a:rPr>
                        <a:t>, </a:t>
                      </a:r>
                      <a:r>
                        <a:rPr lang="ta-IN" sz="1400" dirty="0" err="1">
                          <a:latin typeface="+mn-lt"/>
                        </a:rPr>
                        <a:t>and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battery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wear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estimation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alongside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fast</a:t>
                      </a:r>
                      <a:r>
                        <a:rPr lang="ta-IN" sz="1400" dirty="0">
                          <a:latin typeface="+mn-lt"/>
                        </a:rPr>
                        <a:t> </a:t>
                      </a:r>
                      <a:r>
                        <a:rPr lang="ta-IN" sz="1400" dirty="0" err="1">
                          <a:latin typeface="+mn-lt"/>
                        </a:rPr>
                        <a:t>charging</a:t>
                      </a:r>
                      <a:r>
                        <a:rPr lang="ta-IN" sz="1400" dirty="0">
                          <a:latin typeface="+mn-lt"/>
                        </a:rPr>
                        <a:t>.</a:t>
                      </a:r>
                    </a:p>
                  </a:txBody>
                  <a:tcPr marL="48348" marR="48348" marT="24174" marB="241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202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519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2F20F-996C-75D3-233A-2CF65D06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 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EF7F3-3CB7-3DCB-8E90-B99710E23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INA219/INA226 sensor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OLED display module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USB-PD controller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USB-C connectors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1946-9482-8F30-D61C-AD0D89B1D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8551A6-385B-4923-FAE3-BAA471D95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9</a:t>
            </a:fld>
            <a:endParaRPr lang="en-IN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0B1AC1AF-89D6-85C5-0E1A-09AFCDA1CF4F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62477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E1D2-B273-DF0C-5304-A3CB9ED4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Design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6C1EF9-15DD-4CE9-DC3C-8C31E5636F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547" y="1419225"/>
            <a:ext cx="797745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3BD1-05A0-C114-3824-A22E1DE1F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F5297-F9B2-43BC-E08D-83131C171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10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013507C-F2BE-BA9B-B85D-39121D6B0690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82278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2D622-C35C-BDF7-6D52-B4FDA3CEE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84B8E-F9FA-66B3-BCB9-E421401FC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 Layout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7BA1D49-8674-22A7-9B03-9AB8EEA8F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547" y="1419225"/>
            <a:ext cx="7977453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3B5F1-C444-CC51-ECE7-86A80F3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4CF38-1A7F-83DB-E99E-B0050DB1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11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96AB636-F476-10A2-3073-27CD6D3CAA5F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28A4B8-A56E-B116-044C-F7D88B670B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547" y="1419225"/>
            <a:ext cx="8385148" cy="486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71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B60CD-FADD-FA72-17F7-DEE69F8DF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21EC4-704D-C1ED-61D2-5D953402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a-IN" b="1" dirty="0" err="1">
                <a:latin typeface="Times New Roman" panose="02020603050405020304" pitchFamily="18" charset="0"/>
              </a:rPr>
              <a:t>Future</a:t>
            </a:r>
            <a:r>
              <a:rPr lang="ta-IN" b="1" dirty="0">
                <a:latin typeface="Times New Roman" panose="02020603050405020304" pitchFamily="18" charset="0"/>
              </a:rPr>
              <a:t> </a:t>
            </a:r>
            <a:r>
              <a:rPr lang="ta-IN" b="1" dirty="0" err="1">
                <a:latin typeface="Times New Roman" panose="02020603050405020304" pitchFamily="18" charset="0"/>
              </a:rPr>
              <a:t>Scope</a:t>
            </a:r>
            <a:br>
              <a:rPr lang="ta-IN" b="1" dirty="0">
                <a:latin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AFA22-A859-F68A-2E25-D5BF53CC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DA45F-F1CD-41DA-BA29-EE146599C94B}" type="datetime1">
              <a:rPr lang="en-IN" smtClean="0"/>
              <a:t>23-07-2026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191AF-CFBF-D7CB-FFFE-AA94E26B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B8137-F6AA-4E86-959E-1B3561B3F039}" type="slidenum">
              <a:rPr lang="en-IN" smtClean="0"/>
              <a:t>12</a:t>
            </a:fld>
            <a:endParaRPr lang="en-IN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E82F6F66-2A23-46D4-2907-0464C2FF009D}"/>
              </a:ext>
            </a:extLst>
          </p:cNvPr>
          <p:cNvSpPr txBox="1">
            <a:spLocks/>
          </p:cNvSpPr>
          <p:nvPr/>
        </p:nvSpPr>
        <p:spPr>
          <a:xfrm>
            <a:off x="3084607" y="6319441"/>
            <a:ext cx="6177280" cy="43894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EMBEDDED  PROGRAMMING PROJECT  FIRST- REVIEW</a:t>
            </a:r>
            <a:endParaRPr lang="en-IN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F24E62-7A0B-CA82-1B59-031468734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690688"/>
            <a:ext cx="10515600" cy="4486275"/>
          </a:xfrm>
        </p:spPr>
        <p:txBody>
          <a:bodyPr>
            <a:normAutofit fontScale="77500" lnSpcReduction="20000"/>
          </a:bodyPr>
          <a:lstStyle/>
          <a:p>
            <a:r>
              <a:rPr lang="ta-IN" dirty="0" err="1"/>
              <a:t>Develop</a:t>
            </a:r>
            <a:r>
              <a:rPr lang="ta-IN" dirty="0"/>
              <a:t> </a:t>
            </a:r>
            <a:r>
              <a:rPr lang="ta-IN" dirty="0" err="1"/>
              <a:t>support</a:t>
            </a:r>
            <a:r>
              <a:rPr lang="ta-IN" dirty="0"/>
              <a:t> </a:t>
            </a:r>
            <a:r>
              <a:rPr lang="ta-IN" dirty="0" err="1"/>
              <a:t>for</a:t>
            </a:r>
            <a:r>
              <a:rPr lang="ta-IN" dirty="0"/>
              <a:t> </a:t>
            </a:r>
            <a:r>
              <a:rPr lang="ta-IN" dirty="0" err="1"/>
              <a:t>additional</a:t>
            </a:r>
            <a:r>
              <a:rPr lang="ta-IN" dirty="0"/>
              <a:t> </a:t>
            </a:r>
            <a:r>
              <a:rPr lang="ta-IN" dirty="0" err="1"/>
              <a:t>fast-charging</a:t>
            </a:r>
            <a:r>
              <a:rPr lang="ta-IN" dirty="0"/>
              <a:t> </a:t>
            </a:r>
            <a:r>
              <a:rPr lang="ta-IN" dirty="0" err="1"/>
              <a:t>protocols</a:t>
            </a:r>
            <a:r>
              <a:rPr lang="ta-IN" dirty="0"/>
              <a:t> </a:t>
            </a:r>
            <a:r>
              <a:rPr lang="ta-IN" dirty="0" err="1"/>
              <a:t>such</a:t>
            </a:r>
            <a:r>
              <a:rPr lang="ta-IN" dirty="0"/>
              <a:t> </a:t>
            </a:r>
            <a:r>
              <a:rPr lang="ta-IN" dirty="0" err="1"/>
              <a:t>as</a:t>
            </a:r>
            <a:r>
              <a:rPr lang="ta-IN" dirty="0"/>
              <a:t> </a:t>
            </a:r>
            <a:r>
              <a:rPr lang="ta-IN" b="1" dirty="0"/>
              <a:t>PPS, </a:t>
            </a:r>
            <a:r>
              <a:rPr lang="ta-IN" b="1" dirty="0" err="1"/>
              <a:t>Quick</a:t>
            </a:r>
            <a:r>
              <a:rPr lang="ta-IN" b="1" dirty="0"/>
              <a:t> </a:t>
            </a:r>
            <a:r>
              <a:rPr lang="ta-IN" b="1" dirty="0" err="1"/>
              <a:t>Charge</a:t>
            </a:r>
            <a:r>
              <a:rPr lang="ta-IN" b="1" dirty="0"/>
              <a:t> (QC), VOOC, </a:t>
            </a:r>
            <a:r>
              <a:rPr lang="ta-IN" b="1" dirty="0" err="1"/>
              <a:t>and</a:t>
            </a:r>
            <a:r>
              <a:rPr lang="ta-IN" b="1" dirty="0"/>
              <a:t> AFC</a:t>
            </a:r>
            <a:r>
              <a:rPr lang="ta-IN" dirty="0"/>
              <a:t>. </a:t>
            </a:r>
          </a:p>
          <a:p>
            <a:r>
              <a:rPr lang="ta-IN" dirty="0" err="1"/>
              <a:t>Integrate</a:t>
            </a:r>
            <a:r>
              <a:rPr lang="ta-IN" dirty="0"/>
              <a:t> a </a:t>
            </a:r>
            <a:r>
              <a:rPr lang="ta-IN" b="1" dirty="0" err="1"/>
              <a:t>mobile</a:t>
            </a:r>
            <a:r>
              <a:rPr lang="ta-IN" b="1" dirty="0"/>
              <a:t> </a:t>
            </a:r>
            <a:r>
              <a:rPr lang="ta-IN" b="1" dirty="0" err="1"/>
              <a:t>application</a:t>
            </a:r>
            <a:r>
              <a:rPr lang="ta-IN" dirty="0"/>
              <a:t> </a:t>
            </a:r>
            <a:r>
              <a:rPr lang="ta-IN" dirty="0" err="1"/>
              <a:t>for</a:t>
            </a:r>
            <a:r>
              <a:rPr lang="ta-IN" dirty="0"/>
              <a:t> </a:t>
            </a:r>
            <a:r>
              <a:rPr lang="ta-IN" dirty="0" err="1"/>
              <a:t>live</a:t>
            </a:r>
            <a:r>
              <a:rPr lang="ta-IN" dirty="0"/>
              <a:t> </a:t>
            </a:r>
            <a:r>
              <a:rPr lang="ta-IN" dirty="0" err="1"/>
              <a:t>charging</a:t>
            </a:r>
            <a:r>
              <a:rPr lang="ta-IN" dirty="0"/>
              <a:t> </a:t>
            </a:r>
            <a:r>
              <a:rPr lang="ta-IN" dirty="0" err="1"/>
              <a:t>analytics</a:t>
            </a:r>
            <a:r>
              <a:rPr lang="ta-IN" dirty="0"/>
              <a:t>, </a:t>
            </a:r>
            <a:r>
              <a:rPr lang="ta-IN" dirty="0" err="1"/>
              <a:t>alerts</a:t>
            </a:r>
            <a:r>
              <a:rPr lang="ta-IN" dirty="0"/>
              <a:t>, </a:t>
            </a:r>
            <a:r>
              <a:rPr lang="ta-IN" dirty="0" err="1"/>
              <a:t>and</a:t>
            </a:r>
            <a:r>
              <a:rPr lang="ta-IN" dirty="0"/>
              <a:t> </a:t>
            </a:r>
            <a:r>
              <a:rPr lang="ta-IN" dirty="0" err="1"/>
              <a:t>charging</a:t>
            </a:r>
            <a:r>
              <a:rPr lang="ta-IN" dirty="0"/>
              <a:t> </a:t>
            </a:r>
            <a:r>
              <a:rPr lang="ta-IN" dirty="0" err="1"/>
              <a:t>history</a:t>
            </a:r>
            <a:r>
              <a:rPr lang="ta-IN" dirty="0"/>
              <a:t>. </a:t>
            </a:r>
          </a:p>
          <a:p>
            <a:r>
              <a:rPr lang="ta-IN" dirty="0" err="1"/>
              <a:t>Enable</a:t>
            </a:r>
            <a:r>
              <a:rPr lang="ta-IN" dirty="0"/>
              <a:t> </a:t>
            </a:r>
            <a:r>
              <a:rPr lang="ta-IN" b="1" dirty="0" err="1"/>
              <a:t>cloud</a:t>
            </a:r>
            <a:r>
              <a:rPr lang="ta-IN" b="1" dirty="0"/>
              <a:t> </a:t>
            </a:r>
            <a:r>
              <a:rPr lang="ta-IN" b="1" dirty="0" err="1"/>
              <a:t>synchronization</a:t>
            </a:r>
            <a:r>
              <a:rPr lang="ta-IN" dirty="0"/>
              <a:t> </a:t>
            </a:r>
            <a:r>
              <a:rPr lang="ta-IN" dirty="0" err="1"/>
              <a:t>for</a:t>
            </a:r>
            <a:r>
              <a:rPr lang="ta-IN" dirty="0"/>
              <a:t> </a:t>
            </a:r>
            <a:r>
              <a:rPr lang="ta-IN" dirty="0" err="1"/>
              <a:t>storing</a:t>
            </a:r>
            <a:r>
              <a:rPr lang="ta-IN" dirty="0"/>
              <a:t> </a:t>
            </a:r>
            <a:r>
              <a:rPr lang="ta-IN" dirty="0" err="1"/>
              <a:t>charging</a:t>
            </a:r>
            <a:r>
              <a:rPr lang="ta-IN" dirty="0"/>
              <a:t> </a:t>
            </a:r>
            <a:r>
              <a:rPr lang="ta-IN" dirty="0" err="1"/>
              <a:t>profiles</a:t>
            </a:r>
            <a:r>
              <a:rPr lang="ta-IN" dirty="0"/>
              <a:t> </a:t>
            </a:r>
            <a:r>
              <a:rPr lang="ta-IN" dirty="0" err="1"/>
              <a:t>and</a:t>
            </a:r>
            <a:r>
              <a:rPr lang="ta-IN" dirty="0"/>
              <a:t> </a:t>
            </a:r>
            <a:r>
              <a:rPr lang="ta-IN" dirty="0" err="1"/>
              <a:t>firmware</a:t>
            </a:r>
            <a:r>
              <a:rPr lang="ta-IN" dirty="0"/>
              <a:t> </a:t>
            </a:r>
            <a:r>
              <a:rPr lang="ta-IN" dirty="0" err="1"/>
              <a:t>updates</a:t>
            </a:r>
            <a:r>
              <a:rPr lang="ta-IN" dirty="0"/>
              <a:t>. </a:t>
            </a:r>
          </a:p>
          <a:p>
            <a:r>
              <a:rPr lang="ta-IN" dirty="0" err="1"/>
              <a:t>Implement</a:t>
            </a:r>
            <a:r>
              <a:rPr lang="ta-IN" dirty="0"/>
              <a:t> </a:t>
            </a:r>
            <a:r>
              <a:rPr lang="ta-IN" b="1" dirty="0"/>
              <a:t>AI/ML-</a:t>
            </a:r>
            <a:r>
              <a:rPr lang="ta-IN" b="1" dirty="0" err="1"/>
              <a:t>based</a:t>
            </a:r>
            <a:r>
              <a:rPr lang="ta-IN" b="1" dirty="0"/>
              <a:t> </a:t>
            </a:r>
            <a:r>
              <a:rPr lang="ta-IN" b="1" dirty="0" err="1"/>
              <a:t>charging</a:t>
            </a:r>
            <a:r>
              <a:rPr lang="ta-IN" b="1" dirty="0"/>
              <a:t> </a:t>
            </a:r>
            <a:r>
              <a:rPr lang="ta-IN" b="1" dirty="0" err="1"/>
              <a:t>optimization</a:t>
            </a:r>
            <a:r>
              <a:rPr lang="ta-IN" dirty="0"/>
              <a:t> </a:t>
            </a:r>
            <a:r>
              <a:rPr lang="ta-IN" dirty="0" err="1"/>
              <a:t>using</a:t>
            </a:r>
            <a:r>
              <a:rPr lang="ta-IN" dirty="0"/>
              <a:t> </a:t>
            </a:r>
            <a:r>
              <a:rPr lang="ta-IN" dirty="0" err="1"/>
              <a:t>historical</a:t>
            </a:r>
            <a:r>
              <a:rPr lang="ta-IN" dirty="0"/>
              <a:t> </a:t>
            </a:r>
            <a:r>
              <a:rPr lang="ta-IN" dirty="0" err="1"/>
              <a:t>charging</a:t>
            </a:r>
            <a:r>
              <a:rPr lang="ta-IN" dirty="0"/>
              <a:t> </a:t>
            </a:r>
            <a:r>
              <a:rPr lang="ta-IN" dirty="0" err="1"/>
              <a:t>data</a:t>
            </a:r>
            <a:r>
              <a:rPr lang="ta-IN" dirty="0"/>
              <a:t>. </a:t>
            </a:r>
          </a:p>
          <a:p>
            <a:r>
              <a:rPr lang="ta-IN" dirty="0" err="1"/>
              <a:t>Add</a:t>
            </a:r>
            <a:r>
              <a:rPr lang="ta-IN" dirty="0"/>
              <a:t> </a:t>
            </a:r>
            <a:r>
              <a:rPr lang="ta-IN" b="1" dirty="0" err="1"/>
              <a:t>battery</a:t>
            </a:r>
            <a:r>
              <a:rPr lang="ta-IN" b="1" dirty="0"/>
              <a:t> </a:t>
            </a:r>
            <a:r>
              <a:rPr lang="ta-IN" b="1" dirty="0" err="1"/>
              <a:t>health</a:t>
            </a:r>
            <a:r>
              <a:rPr lang="ta-IN" b="1" dirty="0"/>
              <a:t> </a:t>
            </a:r>
            <a:r>
              <a:rPr lang="ta-IN" b="1" dirty="0" err="1"/>
              <a:t>prediction</a:t>
            </a:r>
            <a:r>
              <a:rPr lang="ta-IN" dirty="0"/>
              <a:t> </a:t>
            </a:r>
            <a:r>
              <a:rPr lang="ta-IN" dirty="0" err="1"/>
              <a:t>and</a:t>
            </a:r>
            <a:r>
              <a:rPr lang="ta-IN" dirty="0"/>
              <a:t> </a:t>
            </a:r>
            <a:r>
              <a:rPr lang="ta-IN" dirty="0" err="1"/>
              <a:t>personalized</a:t>
            </a:r>
            <a:r>
              <a:rPr lang="ta-IN" dirty="0"/>
              <a:t> </a:t>
            </a:r>
            <a:r>
              <a:rPr lang="ta-IN" dirty="0" err="1"/>
              <a:t>charging</a:t>
            </a:r>
            <a:r>
              <a:rPr lang="ta-IN" dirty="0"/>
              <a:t> </a:t>
            </a:r>
            <a:r>
              <a:rPr lang="ta-IN" dirty="0" err="1"/>
              <a:t>recommendations</a:t>
            </a:r>
            <a:r>
              <a:rPr lang="ta-IN" dirty="0"/>
              <a:t>. </a:t>
            </a:r>
          </a:p>
          <a:p>
            <a:r>
              <a:rPr lang="ta-IN" dirty="0" err="1"/>
              <a:t>Design</a:t>
            </a:r>
            <a:r>
              <a:rPr lang="ta-IN" dirty="0"/>
              <a:t> a </a:t>
            </a:r>
            <a:r>
              <a:rPr lang="ta-IN" b="1" dirty="0" err="1"/>
              <a:t>compact</a:t>
            </a:r>
            <a:r>
              <a:rPr lang="ta-IN" b="1" dirty="0"/>
              <a:t> PCB </a:t>
            </a:r>
            <a:r>
              <a:rPr lang="ta-IN" b="1" dirty="0" err="1"/>
              <a:t>and</a:t>
            </a:r>
            <a:r>
              <a:rPr lang="ta-IN" b="1" dirty="0"/>
              <a:t> </a:t>
            </a:r>
            <a:r>
              <a:rPr lang="ta-IN" b="1" dirty="0" err="1"/>
              <a:t>portable</a:t>
            </a:r>
            <a:r>
              <a:rPr lang="ta-IN" b="1" dirty="0"/>
              <a:t> </a:t>
            </a:r>
            <a:r>
              <a:rPr lang="ta-IN" b="1" dirty="0" err="1"/>
              <a:t>enclosure</a:t>
            </a:r>
            <a:r>
              <a:rPr lang="ta-IN" dirty="0"/>
              <a:t> </a:t>
            </a:r>
            <a:r>
              <a:rPr lang="ta-IN" dirty="0" err="1"/>
              <a:t>for</a:t>
            </a:r>
            <a:r>
              <a:rPr lang="ta-IN" dirty="0"/>
              <a:t> </a:t>
            </a:r>
            <a:r>
              <a:rPr lang="ta-IN" dirty="0" err="1"/>
              <a:t>commercial</a:t>
            </a:r>
            <a:r>
              <a:rPr lang="ta-IN" dirty="0"/>
              <a:t> </a:t>
            </a:r>
            <a:r>
              <a:rPr lang="ta-IN" dirty="0" err="1"/>
              <a:t>deployment</a:t>
            </a:r>
            <a:r>
              <a:rPr lang="ta-IN" dirty="0"/>
              <a:t>. </a:t>
            </a:r>
          </a:p>
          <a:p>
            <a:r>
              <a:rPr lang="ta-IN" dirty="0" err="1"/>
              <a:t>Expand</a:t>
            </a:r>
            <a:r>
              <a:rPr lang="ta-IN" dirty="0"/>
              <a:t> </a:t>
            </a:r>
            <a:r>
              <a:rPr lang="ta-IN" dirty="0" err="1"/>
              <a:t>compatibility</a:t>
            </a:r>
            <a:r>
              <a:rPr lang="ta-IN" dirty="0"/>
              <a:t> </a:t>
            </a:r>
            <a:r>
              <a:rPr lang="ta-IN" dirty="0" err="1"/>
              <a:t>with</a:t>
            </a:r>
            <a:r>
              <a:rPr lang="ta-IN" dirty="0"/>
              <a:t> </a:t>
            </a:r>
            <a:r>
              <a:rPr lang="ta-IN" b="1" dirty="0" err="1"/>
              <a:t>laptops</a:t>
            </a:r>
            <a:r>
              <a:rPr lang="ta-IN" b="1" dirty="0"/>
              <a:t>, </a:t>
            </a:r>
            <a:r>
              <a:rPr lang="ta-IN" b="1" dirty="0" err="1"/>
              <a:t>tablets</a:t>
            </a:r>
            <a:r>
              <a:rPr lang="ta-IN" b="1" dirty="0"/>
              <a:t>, </a:t>
            </a:r>
            <a:r>
              <a:rPr lang="ta-IN" b="1" dirty="0" err="1"/>
              <a:t>power</a:t>
            </a:r>
            <a:r>
              <a:rPr lang="ta-IN" b="1" dirty="0"/>
              <a:t> </a:t>
            </a:r>
            <a:r>
              <a:rPr lang="ta-IN" b="1" dirty="0" err="1"/>
              <a:t>banks</a:t>
            </a:r>
            <a:r>
              <a:rPr lang="ta-IN" b="1" dirty="0"/>
              <a:t>, </a:t>
            </a:r>
            <a:r>
              <a:rPr lang="ta-IN" b="1" dirty="0" err="1"/>
              <a:t>and</a:t>
            </a:r>
            <a:r>
              <a:rPr lang="ta-IN" b="1" dirty="0"/>
              <a:t> </a:t>
            </a:r>
            <a:r>
              <a:rPr lang="ta-IN" b="1" dirty="0" err="1"/>
              <a:t>other</a:t>
            </a:r>
            <a:r>
              <a:rPr lang="ta-IN" b="1" dirty="0"/>
              <a:t> USB-C </a:t>
            </a:r>
            <a:r>
              <a:rPr lang="ta-IN" b="1" dirty="0" err="1"/>
              <a:t>devices</a:t>
            </a:r>
            <a:r>
              <a:rPr lang="ta-IN" dirty="0"/>
              <a:t>. </a:t>
            </a:r>
          </a:p>
          <a:p>
            <a:r>
              <a:rPr lang="ta-IN" dirty="0" err="1"/>
              <a:t>Introduce</a:t>
            </a:r>
            <a:r>
              <a:rPr lang="ta-IN" dirty="0"/>
              <a:t> </a:t>
            </a:r>
            <a:r>
              <a:rPr lang="ta-IN" b="1" dirty="0"/>
              <a:t>OTA (</a:t>
            </a:r>
            <a:r>
              <a:rPr lang="ta-IN" b="1" dirty="0" err="1"/>
              <a:t>Over-the-Air</a:t>
            </a:r>
            <a:r>
              <a:rPr lang="ta-IN" b="1" dirty="0"/>
              <a:t>) </a:t>
            </a:r>
            <a:r>
              <a:rPr lang="ta-IN" b="1" dirty="0" err="1"/>
              <a:t>firmware</a:t>
            </a:r>
            <a:r>
              <a:rPr lang="ta-IN" b="1" dirty="0"/>
              <a:t> </a:t>
            </a:r>
            <a:r>
              <a:rPr lang="ta-IN" b="1" dirty="0" err="1"/>
              <a:t>updates</a:t>
            </a:r>
            <a:r>
              <a:rPr lang="ta-IN" dirty="0"/>
              <a:t> </a:t>
            </a:r>
            <a:r>
              <a:rPr lang="ta-IN" dirty="0" err="1"/>
              <a:t>to</a:t>
            </a:r>
            <a:r>
              <a:rPr lang="ta-IN" dirty="0"/>
              <a:t> </a:t>
            </a:r>
            <a:r>
              <a:rPr lang="ta-IN" dirty="0" err="1"/>
              <a:t>support</a:t>
            </a:r>
            <a:r>
              <a:rPr lang="ta-IN" dirty="0"/>
              <a:t> </a:t>
            </a:r>
            <a:r>
              <a:rPr lang="ta-IN" dirty="0" err="1"/>
              <a:t>new</a:t>
            </a:r>
            <a:r>
              <a:rPr lang="ta-IN" dirty="0"/>
              <a:t> </a:t>
            </a:r>
            <a:r>
              <a:rPr lang="ta-IN" dirty="0" err="1"/>
              <a:t>charging</a:t>
            </a:r>
            <a:r>
              <a:rPr lang="ta-IN" dirty="0"/>
              <a:t> </a:t>
            </a:r>
            <a:r>
              <a:rPr lang="ta-IN" dirty="0" err="1"/>
              <a:t>protocols</a:t>
            </a:r>
            <a:r>
              <a:rPr lang="ta-IN" dirty="0"/>
              <a:t> </a:t>
            </a:r>
            <a:r>
              <a:rPr lang="ta-IN" dirty="0" err="1"/>
              <a:t>and</a:t>
            </a:r>
            <a:r>
              <a:rPr lang="ta-IN" dirty="0"/>
              <a:t> </a:t>
            </a:r>
            <a:r>
              <a:rPr lang="ta-IN" dirty="0" err="1"/>
              <a:t>devices</a:t>
            </a:r>
            <a:r>
              <a:rPr lang="ta-IN" dirty="0"/>
              <a:t>. </a:t>
            </a:r>
          </a:p>
          <a:p>
            <a:r>
              <a:rPr lang="ta-IN" dirty="0" err="1"/>
              <a:t>These</a:t>
            </a:r>
            <a:r>
              <a:rPr lang="ta-IN" dirty="0"/>
              <a:t> </a:t>
            </a:r>
            <a:r>
              <a:rPr lang="ta-IN" dirty="0" err="1"/>
              <a:t>points</a:t>
            </a:r>
            <a:r>
              <a:rPr lang="ta-IN" dirty="0"/>
              <a:t> </a:t>
            </a:r>
            <a:r>
              <a:rPr lang="ta-IN" dirty="0" err="1"/>
              <a:t>are</a:t>
            </a:r>
            <a:r>
              <a:rPr lang="ta-IN" dirty="0"/>
              <a:t> </a:t>
            </a:r>
            <a:r>
              <a:rPr lang="ta-IN" dirty="0" err="1"/>
              <a:t>concise</a:t>
            </a:r>
            <a:r>
              <a:rPr lang="ta-IN" dirty="0"/>
              <a:t>, </a:t>
            </a:r>
            <a:r>
              <a:rPr lang="ta-IN" dirty="0" err="1"/>
              <a:t>technically</a:t>
            </a:r>
            <a:r>
              <a:rPr lang="ta-IN" dirty="0"/>
              <a:t> </a:t>
            </a:r>
            <a:r>
              <a:rPr lang="ta-IN" dirty="0" err="1"/>
              <a:t>realistic</a:t>
            </a:r>
            <a:r>
              <a:rPr lang="ta-IN" dirty="0"/>
              <a:t>, </a:t>
            </a:r>
            <a:r>
              <a:rPr lang="ta-IN" dirty="0" err="1"/>
              <a:t>and</a:t>
            </a:r>
            <a:r>
              <a:rPr lang="ta-IN" dirty="0"/>
              <a:t> </a:t>
            </a:r>
            <a:r>
              <a:rPr lang="ta-IN" dirty="0" err="1"/>
              <a:t>suitable</a:t>
            </a:r>
            <a:r>
              <a:rPr lang="ta-IN" dirty="0"/>
              <a:t> </a:t>
            </a:r>
            <a:r>
              <a:rPr lang="ta-IN" dirty="0" err="1"/>
              <a:t>for</a:t>
            </a:r>
            <a:r>
              <a:rPr lang="ta-IN" dirty="0"/>
              <a:t> </a:t>
            </a:r>
            <a:r>
              <a:rPr lang="ta-IN" dirty="0" err="1"/>
              <a:t>an</a:t>
            </a:r>
            <a:r>
              <a:rPr lang="ta-IN" dirty="0"/>
              <a:t> </a:t>
            </a:r>
            <a:r>
              <a:rPr lang="ta-IN" dirty="0" err="1"/>
              <a:t>engineering</a:t>
            </a:r>
            <a:r>
              <a:rPr lang="ta-IN" dirty="0"/>
              <a:t> </a:t>
            </a:r>
            <a:r>
              <a:rPr lang="ta-IN" dirty="0" err="1"/>
              <a:t>project</a:t>
            </a:r>
            <a:r>
              <a:rPr lang="ta-IN" dirty="0"/>
              <a:t> </a:t>
            </a:r>
            <a:r>
              <a:rPr lang="ta-IN" dirty="0" err="1"/>
              <a:t>presentation</a:t>
            </a:r>
            <a:r>
              <a:rPr lang="ta-IN" dirty="0"/>
              <a:t>.</a:t>
            </a:r>
          </a:p>
          <a:p>
            <a:endParaRPr lang="ta-IN" dirty="0"/>
          </a:p>
        </p:txBody>
      </p:sp>
    </p:spTree>
    <p:extLst>
      <p:ext uri="{BB962C8B-B14F-4D97-AF65-F5344CB8AC3E}">
        <p14:creationId xmlns:p14="http://schemas.microsoft.com/office/powerpoint/2010/main" val="824058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384</TotalTime>
  <Words>1016</Words>
  <Application>Microsoft Office PowerPoint</Application>
  <PresentationFormat>Widescreen</PresentationFormat>
  <Paragraphs>142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 CONTENTS</vt:lpstr>
      <vt:lpstr>Introduction </vt:lpstr>
      <vt:lpstr>Problem Statement  </vt:lpstr>
      <vt:lpstr>Project Description  </vt:lpstr>
      <vt:lpstr>Aim and Scope of the Proposed work </vt:lpstr>
      <vt:lpstr>Literature Survey</vt:lpstr>
      <vt:lpstr>Literature Survey</vt:lpstr>
      <vt:lpstr>Hardware Component  </vt:lpstr>
      <vt:lpstr>Block Diagram Design </vt:lpstr>
      <vt:lpstr>PIN Layout </vt:lpstr>
      <vt:lpstr>Future Scope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Muthupandi G.</dc:creator>
  <cp:lastModifiedBy>MITHUN SAKTHIVEL</cp:lastModifiedBy>
  <cp:revision>63</cp:revision>
  <dcterms:created xsi:type="dcterms:W3CDTF">2024-07-31T06:42:35Z</dcterms:created>
  <dcterms:modified xsi:type="dcterms:W3CDTF">2026-07-23T13:58:08Z</dcterms:modified>
</cp:coreProperties>
</file>